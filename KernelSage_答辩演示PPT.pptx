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68" r:id="rId4"/>
    <p:sldId id="276" r:id="rId6"/>
    <p:sldId id="391" r:id="rId7"/>
    <p:sldId id="564" r:id="rId8"/>
    <p:sldId id="575" r:id="rId9"/>
    <p:sldId id="565" r:id="rId10"/>
    <p:sldId id="566" r:id="rId11"/>
    <p:sldId id="574" r:id="rId12"/>
    <p:sldId id="443" r:id="rId13"/>
    <p:sldId id="571" r:id="rId14"/>
    <p:sldId id="559" r:id="rId15"/>
    <p:sldId id="573" r:id="rId16"/>
    <p:sldId id="569" r:id="rId17"/>
    <p:sldId id="568" r:id="rId18"/>
    <p:sldId id="570" r:id="rId19"/>
    <p:sldId id="277" r:id="rId20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34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A752"/>
    <a:srgbClr val="34A853"/>
    <a:srgbClr val="EA4031"/>
    <a:srgbClr val="61BB79"/>
    <a:srgbClr val="33A852"/>
    <a:srgbClr val="30A650"/>
    <a:srgbClr val="FFFFFF"/>
    <a:srgbClr val="9C0000"/>
    <a:srgbClr val="D94C31"/>
    <a:srgbClr val="0149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923" autoAdjust="0"/>
  </p:normalViewPr>
  <p:slideViewPr>
    <p:cSldViewPr snapToGrid="0" showGuides="1">
      <p:cViewPr varScale="1">
        <p:scale>
          <a:sx n="80" d="100"/>
          <a:sy n="80" d="100"/>
        </p:scale>
        <p:origin x="423" y="39"/>
      </p:cViewPr>
      <p:guideLst>
        <p:guide orient="horz" pos="2160"/>
        <p:guide pos="39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gs" Target="tags/tag24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作者请关注公众号壹课。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7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701167" y="144940"/>
            <a:ext cx="100539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016288" y="239783"/>
              <a:ext cx="13852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INTRODUCTION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F0701-9B48-4FBA-A04B-CA97C71F35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DAF53-3B18-4E2F-B370-394AAF94CA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254000" y="144940"/>
            <a:ext cx="12252295" cy="582295"/>
            <a:chOff x="-254000" y="144940"/>
            <a:chExt cx="12252295" cy="582295"/>
          </a:xfrm>
        </p:grpSpPr>
        <p:grpSp>
          <p:nvGrpSpPr>
            <p:cNvPr id="8" name="组合 7"/>
            <p:cNvGrpSpPr/>
            <p:nvPr/>
          </p:nvGrpSpPr>
          <p:grpSpPr>
            <a:xfrm>
              <a:off x="-254000" y="201683"/>
              <a:ext cx="898070" cy="523220"/>
              <a:chOff x="-254000" y="201683"/>
              <a:chExt cx="898070" cy="523220"/>
            </a:xfrm>
          </p:grpSpPr>
          <p:sp>
            <p:nvSpPr>
              <p:cNvPr id="13" name="圆角矩形 10"/>
              <p:cNvSpPr/>
              <p:nvPr/>
            </p:nvSpPr>
            <p:spPr>
              <a:xfrm>
                <a:off x="-254000" y="227083"/>
                <a:ext cx="898070" cy="439668"/>
              </a:xfrm>
              <a:prstGeom prst="roundRect">
                <a:avLst>
                  <a:gd name="adj" fmla="val 50000"/>
                </a:avLst>
              </a:pr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5706" y="201683"/>
                <a:ext cx="4676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533527" y="144940"/>
              <a:ext cx="11464768" cy="582295"/>
              <a:chOff x="533527" y="144940"/>
              <a:chExt cx="11464768" cy="582295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533527" y="144940"/>
                <a:ext cx="2620010" cy="582295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《雅典学院》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3363595" y="201930"/>
                <a:ext cx="4860925" cy="36830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拉斐尔的代表作，艺术登峰与精神追求的交融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tags" Target="../tags/tag20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3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84090" y="0"/>
            <a:ext cx="2545080" cy="2557780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26490" y="2929255"/>
            <a:ext cx="100139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5400" b="1">
                <a:solidFill>
                  <a:srgbClr val="014924"/>
                </a:solidFill>
                <a:latin typeface="微软雅黑" panose="020B0503020204020204" pitchFamily="34" charset="-122"/>
              </a:rPr>
              <a:t>KernelSage：面向小型操作系统仓库的智能分析比对系统</a:t>
            </a:r>
            <a:endParaRPr sz="5400" b="1">
              <a:solidFill>
                <a:srgbClr val="0149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2896" y="5223531"/>
            <a:ext cx="680052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b="1">
                <a:latin typeface="方正小标宋简体" panose="03000509000000000000" charset="-122"/>
              </a:rPr>
              <a:t>汇报队伍：一定要以人类的身份赢啊（天津师范大学）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715" y="551180"/>
            <a:ext cx="1687830" cy="1684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7980" y="1354455"/>
            <a:ext cx="1013460" cy="36449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768001" y="2298065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663806" y="2392731"/>
            <a:ext cx="976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2768001" y="3404870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2768001" y="4482465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dirty="0"/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2768001" y="1273810"/>
            <a:ext cx="767990" cy="767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663806" y="1368476"/>
            <a:ext cx="976380" cy="65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3888105" y="1434465"/>
            <a:ext cx="3086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项目进展时间线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3888105" y="2454275"/>
            <a:ext cx="2207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技术思路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0"/>
            </p:custDataLst>
          </p:nvPr>
        </p:nvSpPr>
        <p:spPr>
          <a:xfrm>
            <a:off x="3888105" y="34740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现有工作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3888105" y="46818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方正小标宋简体" panose="03000509000000000000" charset="-122"/>
                <a:ea typeface="方正小标宋简体" panose="03000509000000000000" charset="-122"/>
              </a:rPr>
              <a:t>后续展望与优化方向</a:t>
            </a:r>
            <a:endParaRPr lang="zh-CN" altLang="en-US" sz="2800">
              <a:latin typeface="方正小标宋简体" panose="03000509000000000000" charset="-122"/>
              <a:ea typeface="方正小标宋简体" panose="03000509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1.1 赛题定位与项目目标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881351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proj18：面向小型操作系统的分析比对智能体系统设计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87675" y="2276475"/>
            <a:ext cx="8926830" cy="40525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pitchFamily="34" charset="-122"/>
              </a:rPr>
              <a:t>目标概述：</a:t>
            </a:r>
            <a:endParaRPr sz="2400" b="1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pitchFamily="34" charset="-122"/>
              </a:rPr>
              <a:t>本项目面向历届操作系统大赛内核赛道作品，构建一套源码证据驱动的分析比对智能体（KernelSage）。系统自动扫描参赛仓库，提取调度、内存、系统调用、文件系统、中断、驱动、同步七维 OS 机制画像，生成带源码路径与行号的描述报告，并与历史样本库进行相似性与重合度比较，辅助评委高效、可解释地完成评审，而非替代专家裁决。</a:t>
            </a:r>
            <a:endParaRPr sz="2400" b="1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1.1 研发阶段划分与工作节奏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881351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研发阶段划分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2842908" y="1943172"/>
          <a:ext cx="9262110" cy="4365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470"/>
                <a:gridCol w="3429539"/>
                <a:gridCol w="3977101"/>
              </a:tblGrid>
              <a:tr h="565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</a:t>
                      </a:r>
                      <a:endParaRPr lang="zh-CN" altLang="en-US" sz="2400" b="1" dirty="0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阶段目标</a:t>
                      </a:r>
                      <a:endParaRPr lang="zh-CN" altLang="en-US"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工作重点</a:t>
                      </a:r>
                      <a:endParaRPr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阶段一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MVP 分析闭环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collector/parser/analyzer/reporter 主链路，七维 OS 机制画像与描述/比较报告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阶段二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证据链与样本库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self-check 证据自检、分层历史样本库、manifest-audit 可信度自检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50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阶段三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相似度与 LLM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五层代码级相似线索检测、LLM 受控增强与 audit-llm-report 审计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阶段四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评审网站与基线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批量克隆历届仓库、卡片式评审网站、部署阿里云 ECS + Nginx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1.1 研发阶段划分与工作节奏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881351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质量保障与工程化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2842908" y="1943172"/>
          <a:ext cx="9262110" cy="4565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470"/>
                <a:gridCol w="3429539"/>
                <a:gridCol w="3977101"/>
              </a:tblGrid>
              <a:tr h="479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维度</a:t>
                      </a:r>
                      <a:endParaRPr lang="zh-CN" altLang="en-US" sz="2400" b="1" dirty="0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目标</a:t>
                      </a:r>
                      <a:endParaRPr lang="zh-CN" altLang="en-US"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  <a:ea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工作重点</a:t>
                      </a:r>
                      <a:endParaRPr sz="2400" b="1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405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质量保障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回归可持续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发现边界问题即固化为规则与单元测试，当前 102 个 unittest 全部通过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1679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方正小标宋简体" panose="03000509000000000000" charset="-122"/>
                        </a:rPr>
                        <a:t>性能与复现</a:t>
                      </a:r>
                      <a:endParaRPr sz="2400" b="0">
                        <a:solidFill>
                          <a:srgbClr val="000000"/>
                        </a:solidFill>
                        <a:latin typeface="方正小标宋简体" panose="03000509000000000000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可离线、可复现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/>
                        <a:t>画像缓存 + 并行构建加速比较；样本不入库，靠 manifest 一键复现</a:t>
                      </a:r>
                      <a:endParaRPr sz="20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583815" y="283845"/>
            <a:ext cx="7137400" cy="972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sz="2800" b="1">
                <a:latin typeface="微软雅黑" panose="020B0503020204020204" pitchFamily="34" charset="-122"/>
              </a:rPr>
              <a:t>1.2 从基线构建到分析闭环：总体研发过程</a:t>
            </a:r>
            <a:endParaRPr sz="28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373570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阶段一：MVP 分析闭环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6743" y="2127011"/>
            <a:ext cx="9454456" cy="13399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l" defTabSz="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搭建 collector / parser / analyzer / reporter 主链路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实现 Rust/C/C++/Asm 轻量符号抽取与七维 OS 机制画像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打通“仓库扫描 → 结构化画像 → 描述报告 → 比较报告”闭环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2833712" y="3758079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32" y="3758031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latin typeface="方正小标宋简体" panose="03000509000000000000" charset="-122"/>
              </a:rPr>
              <a:t>阶段二：证据链与样本库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94635" y="4622165"/>
            <a:ext cx="9357995" cy="1306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新增 self-check 证据自检，校验文件路径与行号真实存在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建立分层历史样本库与 manifest-audit 可信度自检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扩展参考库覆盖教学基线、架构参考、比赛作品与获奖案例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155" y="135890"/>
            <a:ext cx="6510020" cy="112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1.2 从基线构建到分析闭环：总体研发过程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508889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阶段三：相似度与 LLM 受控增强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7010" y="1905000"/>
            <a:ext cx="9454515" cy="1887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实现五层代码级相似线索（路径/函数/结构体/宏/片段）检测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接入 DeepSeek</a:t>
            </a:r>
            <a:r>
              <a:rPr lang="en-US" sz="200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/OpenAI-compatible LLM，dry-run + 审计 + 失败回退三道闸门</a:t>
            </a:r>
            <a:endParaRPr lang="zh-CN"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新增 audit-llm-report 审计 LLM 输出是否越界引用或越权裁定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2833712" y="4189879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32" y="4189831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latin typeface="方正小标宋简体" panose="03000509000000000000" charset="-122"/>
              </a:rPr>
              <a:t>阶段四：评审网站与批量基线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4005" y="4815205"/>
            <a:ext cx="9043670" cy="1527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批量克隆 collected-data 历届 168 个参赛仓库扩充基线库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构建卡片式评审网站：按年份展示、描述/开发历史/三份比较报告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部署到阿里云 ECS + Nginx，评委可在线浏览评分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125629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346" y="3553312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1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91155" y="295275"/>
            <a:ext cx="6762115" cy="960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1.2 从基线构建到分析闭环：总体研发过程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0705" y="1388110"/>
            <a:ext cx="4788236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工程质量保障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6743" y="2213371"/>
            <a:ext cx="9454456" cy="13399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全程以“发现边界问题 → 固化为规则与单元测试”方式迭代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覆盖 describe/compare 端到端、LLM 审计、证据 root、缓存边界等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</a:rPr>
              <a:t>当前 102 个 unittest 全部通过，compileall 通过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2833712" y="3758079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00732" y="3758031"/>
            <a:ext cx="7315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latin typeface="方正小标宋简体" panose="03000509000000000000" charset="-122"/>
              </a:rPr>
              <a:t>性能与可复现</a:t>
            </a:r>
            <a:endParaRPr sz="2400" b="1">
              <a:latin typeface="方正小标宋简体" panose="03000509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3704" y="4383229"/>
            <a:ext cx="9043753" cy="1322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画像缓存（git-clean 快速指纹）+ 并行构建，加速大样本库比较</a:t>
            </a:r>
            <a:endParaRPr lang="en-US" altLang="zh-CN" sz="2000" dirty="0"/>
          </a:p>
          <a:p>
            <a:r>
              <a:rPr sz="2000"/>
              <a:t>样本源码不入库，靠 manifest + fetch_repos.py 一键复现</a:t>
            </a:r>
            <a:endParaRPr sz="2000"/>
          </a:p>
          <a:p>
            <a:r>
              <a:rPr sz="2000"/>
              <a:t>核心分析链路本地可离线运行，LLM 仅为可选增强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2173866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2.1 整体架构设计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3724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310" y="236559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88" y="3407886"/>
            <a:ext cx="2336800" cy="564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310" y="44711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842895" y="1355725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Picture 33" descr="kernelsag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65" y="1797685"/>
            <a:ext cx="8949055" cy="5033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2173866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2.2 关键设计：证据与比较</a:t>
            </a:r>
            <a:endParaRPr sz="3600" b="1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3724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310" y="236559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388" y="3407886"/>
            <a:ext cx="2336800" cy="564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310" y="44711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842895" y="1388110"/>
            <a:ext cx="9262110" cy="42037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00705" y="1388110"/>
            <a:ext cx="249419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latin typeface="方正小标宋简体" panose="03000509000000000000" charset="-122"/>
              </a:rPr>
              <a:t>证据与比较</a:t>
            </a:r>
            <a:endParaRPr lang="zh-CN" altLang="en-US" sz="2400" b="1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00705" y="2579370"/>
            <a:ext cx="9004300" cy="1446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2400"/>
              <a:t>每个关键结论尽量落到源码路径、行号、片段与符号；self-check 负责确认证据能否回到正确源码位置，描述报告按单仓库 root 校验，比较报告按来源仓库 root 分别校验，避免同名路径误判。</a:t>
            </a:r>
            <a:endParaRPr sz="2400"/>
          </a:p>
        </p:txBody>
      </p:sp>
      <p:sp>
        <p:nvSpPr>
          <p:cNvPr id="9" name="文本框 8"/>
          <p:cNvSpPr txBox="1"/>
          <p:nvPr/>
        </p:nvSpPr>
        <p:spPr>
          <a:xfrm>
            <a:off x="3100705" y="2065655"/>
            <a:ext cx="3540125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rgbClr val="548235"/>
                </a:solidFill>
                <a:latin typeface="黑体" panose="02010609060101010101" charset="-122"/>
              </a:rPr>
              <a:t>证据链与 self-check</a:t>
            </a:r>
            <a:endParaRPr sz="2400" b="1">
              <a:solidFill>
                <a:srgbClr val="548235"/>
              </a:solidFill>
              <a:latin typeface="黑体" panose="020106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00616" y="4189630"/>
            <a:ext cx="2494194" cy="38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b="1">
                <a:solidFill>
                  <a:srgbClr val="548235"/>
                </a:solidFill>
                <a:latin typeface="黑体" panose="02010609060101010101" charset="-122"/>
              </a:rPr>
              <a:t>历史样本对比</a:t>
            </a:r>
            <a:endParaRPr sz="2400" b="1">
              <a:solidFill>
                <a:srgbClr val="548235"/>
              </a:solidFill>
              <a:latin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0705" y="4815205"/>
            <a:ext cx="8867775" cy="150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2400"/>
              <a:t>先按语言、架构、OS 维度、规模与风格排序选出代表性历史样本，再输出功能重合、差异点、五层代码级相似线索与人工复核建议；相似线索只作复核入口，系统不直接裁定抄袭。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320828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3.1 现有工作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56926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385277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67" y="33363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10" y="4490849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1246" y="1506935"/>
            <a:ext cx="9214580" cy="65802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39598" y="1506937"/>
            <a:ext cx="5536110" cy="491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 b="1">
                <a:latin typeface="方正小标宋简体" panose="03000509000000000000" charset="-122"/>
              </a:rPr>
              <a:t>分析比对核心能力</a:t>
            </a:r>
            <a:endParaRPr sz="3200" b="1">
              <a:latin typeface="方正小标宋简体" panose="03000509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91155" y="2415540"/>
            <a:ext cx="9102725" cy="4000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七维 OS 机制画像 + A/B/C/D 成熟度评分（本地规则，非 LLM 主观打分）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五层代码级相似线索检测，区分功能重合与代码级重复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query-evidence 可解释源码检索：按“页表/系统调用”等概念定位源码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manifest-audit 样本库可信度自检：repo_id 安全、获奖来源、HEAD 记录</a:t>
            </a:r>
            <a:endParaRPr sz="2400">
              <a:latin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320828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1">
                <a:latin typeface="微软雅黑" panose="020B0503020204020204" pitchFamily="34" charset="-122"/>
              </a:rPr>
              <a:t>3.1 现有工作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256926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385277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67" y="333636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10" y="4490849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1246" y="1506935"/>
            <a:ext cx="9214580" cy="65802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39598" y="1506937"/>
            <a:ext cx="5536110" cy="491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 b="1">
                <a:latin typeface="方正小标宋简体" panose="03000509000000000000" charset="-122"/>
              </a:rPr>
              <a:t>评审网站与报告呈现</a:t>
            </a:r>
            <a:endParaRPr sz="3200" b="1">
              <a:latin typeface="方正小标宋简体" panose="03000509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39415" y="2416810"/>
            <a:ext cx="9030335" cy="3985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卡片式评审网站：按年份标签平铺展示参赛作品，每张卡片含队伍信息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每个作品提供 描述报告 / 开发历史报告 / 三份比较报告（vs 重合度最高仓库）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基线库已收录历届 141 个仓库，按 2021-2025 分年份展示</a:t>
            </a:r>
            <a:endParaRPr sz="2400">
              <a:latin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400">
                <a:latin typeface="黑体" panose="02010609060101010101" charset="-122"/>
              </a:rPr>
              <a:t>已部署阿里云 ECS + Nginx，评委可在线浏览（http://47.114.95.237）</a:t>
            </a:r>
            <a:endParaRPr sz="2400">
              <a:latin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后续展望与优化方向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7370" y="1567815"/>
            <a:ext cx="8693785" cy="4942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提升相似度检测精度：当前已实现 token / 结构 Jaccard 片段相似度，并区分功能重合与代码级线索。</a:t>
            </a: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下一步计划引入函数体归一化与 MinHash / SimHash，必要时上升到 AST 级结构相似度，</a:t>
            </a: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降低通用宏名、include guard 与教学框架继承带来的噪声。</a:t>
            </a: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endParaRPr sz="220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u"/>
            </a:pPr>
            <a:r>
              <a:rPr sz="2200"/>
              <a:t>目标：在不增加误报的前提下，更精准区分“合理复用教学框架”与“疑似实质性重复”，为评委提供更强的复核线索。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后续展望与优化方向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7360" y="1670050"/>
            <a:ext cx="8841740" cy="3986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40000"/>
              </a:lnSpc>
              <a:buChar char="•"/>
            </a:pPr>
            <a:r>
              <a:rPr sz="2000"/>
              <a:t>扩大与自动化基线库：当前基线库已收录历届 141 个仓库（2021–2025）与经典教学/架构样本。</a:t>
            </a:r>
            <a:endParaRPr sz="2000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sz="2000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/>
              <a:t>下一步将基于组委会提供的完整参赛清单（约 200 个仓库）自动批量克隆、分析与上线，形成“清单导入 → 批量分析 → 网站发布”的一键流水线。</a:t>
            </a:r>
            <a:endParaRPr sz="2000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sz="2000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/>
              <a:t>并对采集失败、私有仓库、超大仓库等情况建立稳健的重试与降级策略。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5400000">
            <a:off x="-2226945" y="2227580"/>
            <a:ext cx="6858000" cy="240347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13665" y="4690371"/>
            <a:ext cx="2737505" cy="762000"/>
            <a:chOff x="0" y="772160"/>
            <a:chExt cx="2737505" cy="762000"/>
          </a:xfrm>
          <a:solidFill>
            <a:srgbClr val="9C0000"/>
          </a:solidFill>
        </p:grpSpPr>
        <p:sp>
          <p:nvSpPr>
            <p:cNvPr id="7" name="矩形 6"/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891201" y="567484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后续展望与优化方向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360" y="1388371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项目进展时间线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0" y="2516722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技术思路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" y="3362498"/>
            <a:ext cx="233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现有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Arial" panose="020B0604020202020204" pitchFamily="34" charset="0"/>
              </a:rPr>
              <a:t>工作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60" y="4622294"/>
            <a:ext cx="2336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Times New Roman" panose="02020603050405020304" pitchFamily="18" charset="0"/>
              </a:rPr>
              <a:t>后续展望与优化方向</a:t>
            </a:r>
            <a:endParaRPr lang="zh-CN" altLang="en-US" sz="24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7370" y="1351280"/>
            <a:ext cx="8989060" cy="3928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sz="2400"/>
              <a:t>面向评审的智能问答与可视化增强：</a:t>
            </a:r>
            <a:endParaRPr sz="2400"/>
          </a:p>
          <a:p>
            <a:pPr marL="342900" indent="-342900">
              <a:lnSpc>
                <a:spcPct val="160000"/>
              </a:lnSpc>
              <a:buFont typeface="Wingdings" panose="05000000000000000000" charset="0"/>
              <a:buChar char="u"/>
            </a:pPr>
            <a:endParaRPr sz="2000"/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sz="2000"/>
              <a:t>在现有 query-evidence 源码检索基础上，构建面向评委的自然语言问答入口，支持“某机制在哪些作品中出现”“两个作品差异在哪里”等跨仓库追问。</a:t>
            </a:r>
            <a:endParaRPr sz="2000"/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endParaRPr sz="2000"/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sz="2000"/>
              <a:t>同时增强网站交互：相似度热力图、维度雷达图、跨年份技术演进可视化</a:t>
            </a:r>
            <a:r>
              <a:rPr lang="zh-CN" sz="2000"/>
              <a:t>，</a:t>
            </a:r>
            <a:r>
              <a:rPr sz="2000"/>
              <a:t>把 KernelSage 从“分析工具”升级为“可解释的评审协作平台”。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6600" b="1">
                <a:solidFill>
                  <a:srgbClr val="014924"/>
                </a:solidFill>
                <a:latin typeface="微软雅黑" panose="020B0503020204020204" pitchFamily="34" charset="-122"/>
              </a:rPr>
              <a:t>感谢聆听</a:t>
            </a:r>
            <a:endParaRPr sz="6600" b="1">
              <a:solidFill>
                <a:srgbClr val="0149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sz="19900" b="1"/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4" y="1438170"/>
            <a:ext cx="1936392" cy="1930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2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3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4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5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6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7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8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9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10.xml><?xml version="1.0" encoding="utf-8"?>
<p:tagLst xmlns:p="http://schemas.openxmlformats.org/presentationml/2006/main">
  <p:tag name="KSO_WM_DIAGRAM_VIRTUALLY_FRAME" val="{&quot;height&quot;:405.0216535433071,&quot;left&quot;:209.74850393700785,&quot;top&quot;:71.7,&quot;width&quot;:430.2514960629922}"/>
</p:tagLst>
</file>

<file path=ppt/tags/tag11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2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3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4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5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6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7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8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19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0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1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2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3.xml><?xml version="1.0" encoding="utf-8"?>
<p:tagLst xmlns:p="http://schemas.openxmlformats.org/presentationml/2006/main">
  <p:tag name="KSO_WM_DIAGRAM_VIRTUALLY_FRAME" val="{&quot;height&quot;:265.50811023622043,&quot;left&quot;:57.77881889763779,&quot;top&quot;:123.07968503937009,&quot;width&quot;:509.24992125984255}"/>
</p:tagLst>
</file>

<file path=ppt/tags/tag24.xml><?xml version="1.0" encoding="utf-8"?>
<p:tagLst xmlns:p="http://schemas.openxmlformats.org/presentationml/2006/main">
  <p:tag name="COMMONDATA" val="eyJoZGlkIjoiMzA5ODJjZWVlZjFiNDQ4Nzc0ZDJkZjI4YWRmNTY4NWQifQ=="/>
  <p:tag name="RESOURCE_RECORD_KEY" val="{&quot;29&quot;:[50052448,50049410]}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拉斐尔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2864</Words>
  <Application>WPS 演示</Application>
  <PresentationFormat>宽屏</PresentationFormat>
  <Paragraphs>302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Calibri</vt:lpstr>
      <vt:lpstr>方正小标宋简体</vt:lpstr>
      <vt:lpstr>Times New Roman</vt:lpstr>
      <vt:lpstr>黑体</vt:lpstr>
      <vt:lpstr>Wingdings</vt:lpstr>
      <vt:lpstr>Arial Unicode MS</vt:lpstr>
      <vt:lpstr>Arial Black</vt:lpstr>
      <vt:lpstr>等线 Light</vt:lpstr>
      <vt:lpstr>等线</vt:lpstr>
      <vt:lpstr>Office 主题</vt:lpstr>
      <vt:lpstr>拉斐尔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鲍灿辉</cp:lastModifiedBy>
  <cp:revision>9</cp:revision>
  <dcterms:created xsi:type="dcterms:W3CDTF">2025-06-30T08:12:00Z</dcterms:created>
  <dcterms:modified xsi:type="dcterms:W3CDTF">2026-06-27T07:34:45Z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46BC11F8646F49AD94D1A67D51369191_13</vt:lpwstr>
  </property>
</Properties>
</file>